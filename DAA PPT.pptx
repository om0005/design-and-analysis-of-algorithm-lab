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685800"/>
            <a:ext cx="6583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9799"/>
                </a:solidFill>
                <a:latin typeface="Aptos"/>
              </a:rPr>
              <a:t>DESIGN &amp; ANALYSIS OF ALGORITHMS  •  CA-3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6675120" cy="2240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600" b="1">
                <a:solidFill>
                  <a:srgbClr val="1C2B46"/>
                </a:solidFill>
                <a:latin typeface="Aptos"/>
              </a:rPr>
              <a:t>Dijkstra’s
Shortest Path
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611880"/>
            <a:ext cx="6217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B6B85"/>
                </a:solidFill>
                <a:latin typeface="Aptos"/>
              </a:rPr>
              <a:t>Finding the minimum-cost route through a weighted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4572000"/>
            <a:ext cx="5303520" cy="621792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4773168"/>
            <a:ext cx="4892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3569DC"/>
                </a:solidFill>
                <a:latin typeface="Aptos"/>
              </a:rPr>
              <a:t>GRAPH VISUALS  •  WORKED EXAMPLE  • 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879592"/>
            <a:ext cx="59436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dirty="0">
                <a:solidFill>
                  <a:srgbClr val="5B6B85"/>
                </a:solidFill>
                <a:latin typeface="Aptos"/>
              </a:rPr>
              <a:t>Name: Om Kashikar     Roll No</a:t>
            </a:r>
            <a:r>
              <a:rPr sz="1100" b="0">
                <a:solidFill>
                  <a:srgbClr val="5B6B85"/>
                </a:solidFill>
                <a:latin typeface="Aptos"/>
              </a:rPr>
              <a:t>.: </a:t>
            </a:r>
            <a:r>
              <a:rPr lang="en-US" sz="1100" b="0">
                <a:solidFill>
                  <a:srgbClr val="5B6B85"/>
                </a:solidFill>
                <a:latin typeface="Aptos"/>
              </a:rPr>
              <a:t>25070521170</a:t>
            </a:r>
            <a:endParaRPr sz="1100" b="0" dirty="0">
              <a:solidFill>
                <a:srgbClr val="5B6B85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0" y="640080"/>
            <a:ext cx="4160520" cy="5440680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8092440" y="1783080"/>
            <a:ext cx="1463040" cy="182880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59367" y="175564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799" y="1783079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1965960"/>
            <a:ext cx="274320" cy="169164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65008" y="269290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272034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366760" y="1783080"/>
            <a:ext cx="1188720" cy="187452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96528" y="260146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262890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55480" y="1783080"/>
            <a:ext cx="868680" cy="118872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5228" y="225856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52660" y="228600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366760" y="2971800"/>
            <a:ext cx="2057400" cy="685800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30868" y="319582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8300" y="322326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66760" y="3657600"/>
            <a:ext cx="2103120" cy="1005840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53728" y="404164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406908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10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424160" y="2971800"/>
            <a:ext cx="45720" cy="169164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282428" y="369874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09860" y="372618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2</a:t>
            </a:r>
          </a:p>
        </p:txBody>
      </p:sp>
      <p:sp>
        <p:nvSpPr>
          <p:cNvPr id="31" name="Oval 30"/>
          <p:cNvSpPr/>
          <p:nvPr/>
        </p:nvSpPr>
        <p:spPr>
          <a:xfrm>
            <a:off x="7827264" y="1700784"/>
            <a:ext cx="530352" cy="530352"/>
          </a:xfrm>
          <a:prstGeom prst="ellipse">
            <a:avLst/>
          </a:prstGeom>
          <a:solidFill>
            <a:srgbClr val="229B64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2" name="Oval 31"/>
          <p:cNvSpPr/>
          <p:nvPr/>
        </p:nvSpPr>
        <p:spPr>
          <a:xfrm>
            <a:off x="9290304" y="151790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33" name="Oval 32"/>
          <p:cNvSpPr/>
          <p:nvPr/>
        </p:nvSpPr>
        <p:spPr>
          <a:xfrm>
            <a:off x="8101584" y="339242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4" name="Oval 33"/>
          <p:cNvSpPr/>
          <p:nvPr/>
        </p:nvSpPr>
        <p:spPr>
          <a:xfrm>
            <a:off x="10158984" y="270662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5" name="Oval 34"/>
          <p:cNvSpPr/>
          <p:nvPr/>
        </p:nvSpPr>
        <p:spPr>
          <a:xfrm>
            <a:off x="10204704" y="439826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Why shortest paths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A weighted graph models locations or states connected by routes with different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" y="1847088"/>
            <a:ext cx="50292" cy="1197863"/>
          </a:xfrm>
          <a:prstGeom prst="rect">
            <a:avLst/>
          </a:prstGeom>
          <a:solidFill>
            <a:srgbClr val="3569DC"/>
          </a:solidFill>
          <a:ln w="10160">
            <a:solidFill>
              <a:srgbClr val="35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3569DC"/>
                </a:solidFill>
                <a:latin typeface="Aptos"/>
              </a:rPr>
              <a:t>GPS &amp; 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67712"/>
            <a:ext cx="303580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Find a low-distance or low-cost route between locations.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7" y="1847088"/>
            <a:ext cx="50292" cy="1197863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4708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009799"/>
                </a:solidFill>
                <a:latin typeface="Aptos"/>
              </a:rPr>
              <a:t>Computer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67712"/>
            <a:ext cx="303580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Select routes for sending data through connected routers.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0727" y="1847088"/>
            <a:ext cx="50292" cy="1197863"/>
          </a:xfrm>
          <a:prstGeom prst="rect">
            <a:avLst/>
          </a:prstGeom>
          <a:solidFill>
            <a:srgbClr val="8762CD"/>
          </a:solidFill>
          <a:ln w="10160">
            <a:solidFill>
              <a:srgbClr val="876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84708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8762CD"/>
                </a:solidFill>
                <a:latin typeface="Aptos"/>
              </a:rPr>
              <a:t>Robotics &amp; games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267712"/>
            <a:ext cx="303580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Plan movement through a map or virtual environment.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10607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950208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F4705E"/>
                </a:solidFill>
                <a:latin typeface="Aptos"/>
              </a:rPr>
              <a:t>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877056"/>
            <a:ext cx="8229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C2B46"/>
                </a:solidFill>
                <a:latin typeface="Aptos"/>
              </a:rPr>
              <a:t>Given a weighted graph and a source vertex, find the minimum total weight from the source to every reachable vertex.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40680"/>
            <a:ext cx="9784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009799"/>
                </a:solidFill>
                <a:latin typeface="Aptos"/>
              </a:rPr>
              <a:t>Dijkstra solves this single-source problem when all edge weights are non-negative.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Graph essentials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Understand these terms before following the algorithm.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4290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" y="1847088"/>
            <a:ext cx="50292" cy="1060704"/>
          </a:xfrm>
          <a:prstGeom prst="rect">
            <a:avLst/>
          </a:prstGeom>
          <a:solidFill>
            <a:srgbClr val="3569DC"/>
          </a:solidFill>
          <a:ln w="10160">
            <a:solidFill>
              <a:srgbClr val="35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3569DC"/>
                </a:solidFill>
                <a:latin typeface="Aptos"/>
              </a:rPr>
              <a:t>Vertex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67712"/>
            <a:ext cx="30358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A point: for example, a city or router.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7" y="1847088"/>
            <a:ext cx="50292" cy="1060704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4708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009799"/>
                </a:solidFill>
                <a:latin typeface="Aptos"/>
              </a:rPr>
              <a:t>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67712"/>
            <a:ext cx="30358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A connection between two vertices.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4290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0727" y="1847088"/>
            <a:ext cx="50292" cy="1060704"/>
          </a:xfrm>
          <a:prstGeom prst="rect">
            <a:avLst/>
          </a:prstGeom>
          <a:solidFill>
            <a:srgbClr val="F4705E"/>
          </a:solidFill>
          <a:ln w="10160">
            <a:solidFill>
              <a:srgbClr val="F47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84708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4705E"/>
                </a:solidFill>
                <a:latin typeface="Aptos"/>
              </a:rPr>
              <a:t>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267712"/>
            <a:ext cx="30358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A cost, distance, time, or effort on an edge.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37560"/>
            <a:ext cx="34290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4088" y="3493008"/>
            <a:ext cx="50292" cy="1060704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49300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009799"/>
                </a:solidFill>
                <a:latin typeface="Aptos"/>
              </a:rPr>
              <a:t>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13632"/>
            <a:ext cx="30358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The starting vertex for all distances.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337560"/>
            <a:ext cx="34290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07407" y="3493008"/>
            <a:ext cx="50292" cy="1060704"/>
          </a:xfrm>
          <a:prstGeom prst="rect">
            <a:avLst/>
          </a:prstGeom>
          <a:solidFill>
            <a:srgbClr val="8762CD"/>
          </a:solidFill>
          <a:ln w="10160">
            <a:solidFill>
              <a:srgbClr val="876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49300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8762CD"/>
                </a:solidFill>
                <a:latin typeface="Aptos"/>
              </a:rPr>
              <a:t>dist[v]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913632"/>
            <a:ext cx="30358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Best known distance from source to 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337560"/>
            <a:ext cx="34290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10727" y="3493008"/>
            <a:ext cx="50292" cy="1060704"/>
          </a:xfrm>
          <a:prstGeom prst="rect">
            <a:avLst/>
          </a:prstGeom>
          <a:solidFill>
            <a:srgbClr val="EBA829"/>
          </a:solidFill>
          <a:ln w="10160">
            <a:solidFill>
              <a:srgbClr val="EBA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3493008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EBA829"/>
                </a:solidFill>
                <a:latin typeface="Aptos"/>
              </a:rPr>
              <a:t>Predecessor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913632"/>
            <a:ext cx="30358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Previous vertex used to rebuild a path.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166360"/>
            <a:ext cx="10287000" cy="475488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303520"/>
            <a:ext cx="9921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7417E"/>
                </a:solidFill>
                <a:latin typeface="Aptos"/>
              </a:rPr>
              <a:t>The graph can be directed or undirected; edge weights must be non-negative for Dijkstra.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Dijkstra in three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It uses a greedy choice: process the closest unvisited vertex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892807"/>
            <a:ext cx="50292" cy="2935224"/>
          </a:xfrm>
          <a:prstGeom prst="rect">
            <a:avLst/>
          </a:prstGeom>
          <a:solidFill>
            <a:srgbClr val="3569DC"/>
          </a:solidFill>
          <a:ln w="10160">
            <a:solidFill>
              <a:srgbClr val="35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3569DC"/>
                </a:solidFill>
                <a:latin typeface="Aptos"/>
              </a:rPr>
              <a:t>01 • Initialise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377439"/>
            <a:ext cx="100584" cy="100584"/>
          </a:xfrm>
          <a:prstGeom prst="ellipse">
            <a:avLst/>
          </a:prstGeom>
          <a:solidFill>
            <a:srgbClr val="35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295144"/>
            <a:ext cx="2779776" cy="8595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dist[source] = 0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246119"/>
            <a:ext cx="100584" cy="100584"/>
          </a:xfrm>
          <a:prstGeom prst="ellipse">
            <a:avLst/>
          </a:prstGeom>
          <a:solidFill>
            <a:srgbClr val="35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163823"/>
            <a:ext cx="2779776" cy="8595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All other distances = ∞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114799"/>
            <a:ext cx="100584" cy="100584"/>
          </a:xfrm>
          <a:prstGeom prst="ellipse">
            <a:avLst/>
          </a:prstGeom>
          <a:solidFill>
            <a:srgbClr val="35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032503"/>
            <a:ext cx="2779776" cy="8595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All vertices start unvisited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737360"/>
            <a:ext cx="338328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7407" y="1892807"/>
            <a:ext cx="50292" cy="2935224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1892807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009799"/>
                </a:solidFill>
                <a:latin typeface="Aptos"/>
              </a:rPr>
              <a:t>02 • Select &amp; relax</a:t>
            </a:r>
          </a:p>
        </p:txBody>
      </p:sp>
      <p:sp>
        <p:nvSpPr>
          <p:cNvPr id="19" name="Oval 18"/>
          <p:cNvSpPr/>
          <p:nvPr/>
        </p:nvSpPr>
        <p:spPr>
          <a:xfrm>
            <a:off x="4617720" y="2377439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8032" y="2295144"/>
            <a:ext cx="2779776" cy="12938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Pick the unvisited vertex with the smallest distance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3680459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28032" y="3598163"/>
            <a:ext cx="2779776" cy="12938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Try to improve each neighbour’s distance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37360"/>
            <a:ext cx="338328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65008" y="1892807"/>
            <a:ext cx="50292" cy="2935224"/>
          </a:xfrm>
          <a:prstGeom prst="rect">
            <a:avLst/>
          </a:prstGeom>
          <a:solidFill>
            <a:srgbClr val="F4705E"/>
          </a:solidFill>
          <a:ln w="10160">
            <a:solidFill>
              <a:srgbClr val="F47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7888" y="1892807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4705E"/>
                </a:solidFill>
                <a:latin typeface="Aptos"/>
              </a:rPr>
              <a:t>03 • Repeat</a:t>
            </a:r>
          </a:p>
        </p:txBody>
      </p:sp>
      <p:sp>
        <p:nvSpPr>
          <p:cNvPr id="26" name="Oval 25"/>
          <p:cNvSpPr/>
          <p:nvPr/>
        </p:nvSpPr>
        <p:spPr>
          <a:xfrm>
            <a:off x="8275320" y="2377439"/>
            <a:ext cx="100584" cy="100584"/>
          </a:xfrm>
          <a:prstGeom prst="ellipse">
            <a:avLst/>
          </a:prstGeom>
          <a:solidFill>
            <a:srgbClr val="F4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5632" y="2295144"/>
            <a:ext cx="2779776" cy="12938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Mark the selected vertex visited</a:t>
            </a:r>
          </a:p>
        </p:txBody>
      </p:sp>
      <p:sp>
        <p:nvSpPr>
          <p:cNvPr id="28" name="Oval 27"/>
          <p:cNvSpPr/>
          <p:nvPr/>
        </p:nvSpPr>
        <p:spPr>
          <a:xfrm>
            <a:off x="8275320" y="3680459"/>
            <a:ext cx="100584" cy="100584"/>
          </a:xfrm>
          <a:prstGeom prst="ellipse">
            <a:avLst/>
          </a:prstGeom>
          <a:solidFill>
            <a:srgbClr val="F4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5632" y="3598163"/>
            <a:ext cx="2779776" cy="12938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Continue until no reachable unvisited vertex remains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349240"/>
            <a:ext cx="10058400" cy="457200"/>
          </a:xfrm>
          <a:prstGeom prst="roundRect">
            <a:avLst/>
          </a:prstGeom>
          <a:solidFill>
            <a:srgbClr val="FFF7DE"/>
          </a:solidFill>
          <a:ln w="10160">
            <a:solidFill>
              <a:srgbClr val="FFF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5477256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1C2B46"/>
                </a:solidFill>
                <a:latin typeface="Aptos"/>
              </a:rPr>
              <a:t>Greedy rule: the smallest tentative distance is selected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The key operation: edge relaxation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Relaxation checks whether going through the current vertex gives a cheaper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4465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9799"/>
                </a:solidFill>
                <a:latin typeface="Aptos"/>
              </a:rPr>
              <a:t>CANDIDATE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53035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dist[u] + weight(u, 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82112"/>
            <a:ext cx="5303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B85"/>
                </a:solidFill>
                <a:latin typeface="Aptos"/>
              </a:rPr>
              <a:t>Compare the candidate with the current dist[v].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794760"/>
            <a:ext cx="5532120" cy="804672"/>
          </a:xfrm>
          <a:prstGeom prst="roundRect">
            <a:avLst/>
          </a:prstGeom>
          <a:solidFill>
            <a:srgbClr val="FFF7DE"/>
          </a:solidFill>
          <a:ln w="10160">
            <a:solidFill>
              <a:srgbClr val="FFF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4050791"/>
            <a:ext cx="5074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C2B46"/>
                </a:solidFill>
                <a:latin typeface="Aptos"/>
              </a:rPr>
              <a:t>If candidate &lt; dist[v], update dist[v].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691640"/>
            <a:ext cx="3749039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62088" y="1847088"/>
            <a:ext cx="50292" cy="1197863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4968" y="1847088"/>
            <a:ext cx="33832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009799"/>
                </a:solidFill>
                <a:latin typeface="Aptos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256" y="2267712"/>
            <a:ext cx="3355847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Current dist[B] = 4
A → C → B costs 2 + 1 = 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474720"/>
            <a:ext cx="3749039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62088" y="3630168"/>
            <a:ext cx="50292" cy="1380744"/>
          </a:xfrm>
          <a:prstGeom prst="rect">
            <a:avLst/>
          </a:prstGeom>
          <a:solidFill>
            <a:srgbClr val="3569DC"/>
          </a:solidFill>
          <a:ln w="10160">
            <a:solidFill>
              <a:srgbClr val="35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44968" y="3630168"/>
            <a:ext cx="33832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3569DC"/>
                </a:solidFill>
                <a:latin typeface="Aptos"/>
              </a:rPr>
              <a:t>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4050791"/>
            <a:ext cx="3355847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Because 3 &lt; 4, set dist[B] = 3 and predecessor[B] = 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Aptos"/>
              </a:rPr>
              <a:t>∞ means no route has been discovered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Worked example: weighted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Start at A. Edge labels are costs; highlighted edges form the eventual shortest-path tree.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99516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600200" y="2331720"/>
            <a:ext cx="2057400" cy="457200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4308" y="244144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91740" y="2468879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2788920"/>
            <a:ext cx="457200" cy="178308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664208" y="356158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91640" y="358902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057400" y="2331720"/>
            <a:ext cx="1600200" cy="224028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92908" y="333298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0340" y="336042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2331720"/>
            <a:ext cx="1965960" cy="41148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75988" y="241858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3420" y="244602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057400" y="2743200"/>
            <a:ext cx="3566160" cy="1828800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75888" y="353872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356616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57400" y="4572000"/>
            <a:ext cx="3657600" cy="182880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21608" y="454456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49039" y="457200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60" y="2743200"/>
            <a:ext cx="91440" cy="201168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504688" y="363016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32120" y="3657599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1335024" y="2523744"/>
            <a:ext cx="530352" cy="530352"/>
          </a:xfrm>
          <a:prstGeom prst="ellipse">
            <a:avLst/>
          </a:prstGeom>
          <a:solidFill>
            <a:srgbClr val="229B64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3392424" y="2066543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31" name="Oval 30"/>
          <p:cNvSpPr/>
          <p:nvPr/>
        </p:nvSpPr>
        <p:spPr>
          <a:xfrm>
            <a:off x="1792224" y="430682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2" name="Oval 31"/>
          <p:cNvSpPr/>
          <p:nvPr/>
        </p:nvSpPr>
        <p:spPr>
          <a:xfrm>
            <a:off x="5358384" y="247802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3" name="Oval 32"/>
          <p:cNvSpPr/>
          <p:nvPr/>
        </p:nvSpPr>
        <p:spPr>
          <a:xfrm>
            <a:off x="5449824" y="448970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1645920"/>
            <a:ext cx="3474720" cy="4526280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2011680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3569DC"/>
                </a:solidFill>
                <a:latin typeface="Aptos"/>
              </a:rPr>
              <a:t>INITIAL DISTANCES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2606040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C2B46"/>
                </a:solidFill>
                <a:latin typeface="Aptos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606040"/>
            <a:ext cx="731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09799"/>
                </a:solidFill>
                <a:latin typeface="Aptos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11810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C2B46"/>
                </a:solidFill>
                <a:latin typeface="Aptos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118104"/>
            <a:ext cx="731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5B6B85"/>
                </a:solidFill>
                <a:latin typeface="Aptos"/>
              </a:rPr>
              <a:t>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3630168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C2B46"/>
                </a:solidFill>
                <a:latin typeface="Aptos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630168"/>
            <a:ext cx="731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5B6B85"/>
                </a:solidFill>
                <a:latin typeface="Aptos"/>
              </a:rPr>
              <a:t>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142232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C2B46"/>
                </a:solidFill>
                <a:latin typeface="Aptos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142232"/>
            <a:ext cx="731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5B6B85"/>
                </a:solidFill>
                <a:latin typeface="Aptos"/>
              </a:rPr>
              <a:t>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654296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C2B46"/>
                </a:solidFill>
                <a:latin typeface="Aptos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654296"/>
            <a:ext cx="731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5B6B85"/>
                </a:solidFill>
                <a:latin typeface="Aptos"/>
              </a:rPr>
              <a:t>∞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5349240"/>
            <a:ext cx="288036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94192" y="5477256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5B6B85"/>
                </a:solidFill>
                <a:latin typeface="Aptos"/>
              </a:rPr>
              <a:t>Visited = none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Dry run: how the distances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Select the lowest unvisited distance, then relax its edges. Order: (A, B, C, D, 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94359" cy="457200"/>
          </a:xfrm>
          <a:prstGeom prst="roundRect">
            <a:avLst/>
          </a:prstGeom>
          <a:solidFill>
            <a:srgbClr val="27417E"/>
          </a:solidFill>
          <a:ln w="10160">
            <a:solidFill>
              <a:srgbClr val="274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9888" y="1691640"/>
            <a:ext cx="987551" cy="457200"/>
          </a:xfrm>
          <a:prstGeom prst="roundRect">
            <a:avLst/>
          </a:prstGeom>
          <a:solidFill>
            <a:srgbClr val="27417E"/>
          </a:solidFill>
          <a:ln w="10160">
            <a:solidFill>
              <a:srgbClr val="274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1810512"/>
            <a:ext cx="8503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1691640"/>
            <a:ext cx="3639312" cy="457200"/>
          </a:xfrm>
          <a:prstGeom prst="roundRect">
            <a:avLst/>
          </a:prstGeom>
          <a:solidFill>
            <a:srgbClr val="27417E"/>
          </a:solidFill>
          <a:ln w="10160">
            <a:solidFill>
              <a:srgbClr val="274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1810512"/>
            <a:ext cx="3502151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91640"/>
            <a:ext cx="4096511" cy="457200"/>
          </a:xfrm>
          <a:prstGeom prst="roundRect">
            <a:avLst/>
          </a:prstGeom>
          <a:solidFill>
            <a:srgbClr val="27417E"/>
          </a:solidFill>
          <a:ln w="10160">
            <a:solidFill>
              <a:srgbClr val="274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810512"/>
            <a:ext cx="39593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Distances (A, B, C, D, 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76856"/>
            <a:ext cx="594359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40487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C2B46"/>
                </a:solidFill>
                <a:latin typeface="Apto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89888" y="2276856"/>
            <a:ext cx="987551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2404872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9799"/>
                </a:solidFill>
                <a:latin typeface="Aptos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41448" y="2276856"/>
            <a:ext cx="3639312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14600" y="2404872"/>
            <a:ext cx="3502151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B = 4; C =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276856"/>
            <a:ext cx="4096511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404872"/>
            <a:ext cx="3959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(0, 4, 2, ∞, ∞)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62656"/>
            <a:ext cx="594359" cy="53035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309067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C2B46"/>
                </a:solidFill>
                <a:latin typeface="Apto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9888" y="2962656"/>
            <a:ext cx="987551" cy="53035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63040" y="3090672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9799"/>
                </a:solidFill>
                <a:latin typeface="Aptos"/>
              </a:rP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41448" y="2962656"/>
            <a:ext cx="3639312" cy="53035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14600" y="3090672"/>
            <a:ext cx="3502151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B: 4 → 3; D = 10; E = 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2962656"/>
            <a:ext cx="4096511" cy="53035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3090672"/>
            <a:ext cx="3959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(0, 3, 2, 10, 12)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648456"/>
            <a:ext cx="594359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377647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C2B46"/>
                </a:solidFill>
                <a:latin typeface="Aptos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89888" y="3648456"/>
            <a:ext cx="987551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63040" y="3776472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9799"/>
                </a:solidFill>
                <a:latin typeface="Aptos"/>
              </a:rPr>
              <a:t>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41448" y="3648456"/>
            <a:ext cx="3639312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14600" y="3776472"/>
            <a:ext cx="3502151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D: 10 → 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3648456"/>
            <a:ext cx="4096511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3776472"/>
            <a:ext cx="3959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(0, 3, 2, 8, 12)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334256"/>
            <a:ext cx="594359" cy="53035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2" y="446227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C2B46"/>
                </a:solidFill>
                <a:latin typeface="Aptos"/>
              </a:rP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89888" y="4334256"/>
            <a:ext cx="987551" cy="53035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63040" y="4462272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9799"/>
                </a:solidFill>
                <a:latin typeface="Aptos"/>
              </a:rPr>
              <a:t>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41448" y="4334256"/>
            <a:ext cx="3639312" cy="53035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14600" y="4462272"/>
            <a:ext cx="3502151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E: 12 → 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4768" y="4334256"/>
            <a:ext cx="4096511" cy="530352"/>
          </a:xfrm>
          <a:prstGeom prst="roundRect">
            <a:avLst/>
          </a:prstGeom>
          <a:solidFill>
            <a:srgbClr val="F2F6FC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0" y="4462272"/>
            <a:ext cx="3959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(0, 3, 2, 8, 10)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020056"/>
            <a:ext cx="594359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2" y="5148072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C2B46"/>
                </a:solidFill>
                <a:latin typeface="Aptos"/>
              </a:rPr>
              <a:t>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89888" y="5020056"/>
            <a:ext cx="987551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63040" y="5148072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9799"/>
                </a:solidFill>
                <a:latin typeface="Aptos"/>
              </a:rPr>
              <a:t>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41448" y="5020056"/>
            <a:ext cx="3639312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514600" y="5148072"/>
            <a:ext cx="3502151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No improvement needed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44768" y="5020056"/>
            <a:ext cx="4096511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17920" y="5148072"/>
            <a:ext cx="3959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(0, 3, 2, 8, 10)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" y="5742432"/>
            <a:ext cx="10424160" cy="384048"/>
          </a:xfrm>
          <a:prstGeom prst="roundRect">
            <a:avLst/>
          </a:prstGeom>
          <a:solidFill>
            <a:srgbClr val="FFF7DE"/>
          </a:solidFill>
          <a:ln w="10160">
            <a:solidFill>
              <a:srgbClr val="FFF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1560" y="5843016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1C2B46"/>
                </a:solidFill>
                <a:latin typeface="Aptos"/>
              </a:rPr>
              <a:t>Selection order: A → C → B → D → E  •  Final distances: 0, 3, 2, 8,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Final shortest paths from 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The predecessor links form a shortest-path tree; each route’s weights add to its final distance.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9893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417320" y="2331720"/>
            <a:ext cx="2606040" cy="411480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55748" y="2308860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83180" y="2336291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2743200"/>
            <a:ext cx="1325880" cy="1234439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24228" y="324154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51660" y="3268979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743200" y="2331720"/>
            <a:ext cx="1280160" cy="1645919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18688" y="2926079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2953511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331720"/>
            <a:ext cx="1051560" cy="132588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84548" y="2766060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1979" y="2793491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743200" y="3657600"/>
            <a:ext cx="2331720" cy="320039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44468" y="3808476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71900" y="3835908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43200" y="3977639"/>
            <a:ext cx="2514600" cy="1097281"/>
          </a:xfrm>
          <a:prstGeom prst="line">
            <a:avLst/>
          </a:prstGeom>
          <a:ln w="20320">
            <a:solidFill>
              <a:srgbClr val="B0B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26180" y="4480559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53611" y="4507992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B46"/>
                </a:solidFill>
                <a:latin typeface="Aptos"/>
              </a:rPr>
              <a:t>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74920" y="3657600"/>
            <a:ext cx="182880" cy="1417320"/>
          </a:xfrm>
          <a:prstGeom prst="line">
            <a:avLst/>
          </a:prstGeom>
          <a:ln w="35560">
            <a:solidFill>
              <a:srgbClr val="00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38928" y="4247388"/>
            <a:ext cx="329184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66360" y="4274820"/>
            <a:ext cx="2743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BA829"/>
                </a:solidFill>
                <a:latin typeface="Aptos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1152144" y="2478024"/>
            <a:ext cx="530352" cy="530352"/>
          </a:xfrm>
          <a:prstGeom prst="ellipse">
            <a:avLst/>
          </a:prstGeom>
          <a:solidFill>
            <a:srgbClr val="229B64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2478024" y="3712463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3758184" y="2066543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4809744" y="339242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3" name="Oval 32"/>
          <p:cNvSpPr/>
          <p:nvPr/>
        </p:nvSpPr>
        <p:spPr>
          <a:xfrm>
            <a:off x="4992624" y="4809744"/>
            <a:ext cx="530352" cy="530352"/>
          </a:xfrm>
          <a:prstGeom prst="ellipse">
            <a:avLst/>
          </a:prstGeom>
          <a:solidFill>
            <a:srgbClr val="3569D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1645920"/>
            <a:ext cx="4434840" cy="4526280"/>
          </a:xfrm>
          <a:prstGeom prst="roundRect">
            <a:avLst/>
          </a:prstGeom>
          <a:solidFill>
            <a:srgbClr val="E0F8F4"/>
          </a:solidFill>
          <a:ln w="10160">
            <a:solidFill>
              <a:srgbClr val="E0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9480" y="196596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09799"/>
                </a:solidFill>
                <a:latin typeface="Aptos"/>
              </a:rPr>
              <a:t>DESTINATION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1965960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09799"/>
                </a:solidFill>
                <a:latin typeface="Aptos"/>
              </a:rPr>
              <a:t>SHORTEST 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196596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009799"/>
                </a:solidFill>
                <a:latin typeface="Aptos"/>
              </a:rPr>
              <a:t>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423160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C2B46"/>
                </a:solidFill>
                <a:latin typeface="Aptos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423160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C2B46"/>
                </a:solidFill>
                <a:latin typeface="Aptos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2423160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3569DC"/>
                </a:solidFill>
                <a:latin typeface="Aptos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008376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C2B46"/>
                </a:solidFill>
                <a:latin typeface="Aptos"/>
              </a:rP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008376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C2B46"/>
                </a:solidFill>
                <a:latin typeface="Aptos"/>
              </a:rPr>
              <a:t>A → C →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3008376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3569DC"/>
                </a:solidFill>
                <a:latin typeface="Apto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593591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C2B46"/>
                </a:solidFill>
                <a:latin typeface="Aptos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593591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C2B46"/>
                </a:solidFill>
                <a:latin typeface="Aptos"/>
              </a:rPr>
              <a:t>A → 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3593591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3569DC"/>
                </a:solidFill>
                <a:latin typeface="Aptos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178808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C2B46"/>
                </a:solidFill>
                <a:latin typeface="Aptos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178808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C2B46"/>
                </a:solidFill>
                <a:latin typeface="Aptos"/>
              </a:rPr>
              <a:t>A → C → B → 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4178808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3569DC"/>
                </a:solidFill>
                <a:latin typeface="Aptos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764024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C2B46"/>
                </a:solidFill>
                <a:latin typeface="Aptos"/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764024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C2B46"/>
                </a:solidFill>
                <a:latin typeface="Aptos"/>
              </a:rPr>
              <a:t>A → C → B → D → 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4764024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3569DC"/>
                </a:solidFill>
                <a:latin typeface="Aptos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5486400"/>
            <a:ext cx="374903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C2B46"/>
                </a:solidFill>
                <a:latin typeface="Aptos"/>
              </a:rPr>
              <a:t>A → B directly costs 4; A → C → B costs 2 + 1 =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Pseudocode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This simple version uses a linear scan to select the minimum-distance unvisited vertex.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8580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009799"/>
                </a:solidFill>
                <a:latin typeface="Aptos"/>
              </a:rPr>
              <a:t>DIJKSTRA(G, source):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C2B46"/>
                </a:solidFill>
                <a:latin typeface="Aptos"/>
              </a:rPr>
              <a:t>  for each vertex v: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C2B46"/>
                </a:solidFill>
                <a:latin typeface="Aptos"/>
              </a:rPr>
              <a:t>    dist[v] = ∞; visited[v] =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88336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009799"/>
                </a:solidFill>
                <a:latin typeface="Aptos"/>
              </a:rPr>
              <a:t>  dist[source]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80944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C2B46"/>
                </a:solidFill>
                <a:latin typeface="Aptos"/>
              </a:rPr>
              <a:t>  repeat up to |V| times: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73552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009799"/>
                </a:solidFill>
                <a:latin typeface="Aptos"/>
              </a:rPr>
              <a:t>    u = unvisited vertex with minimum dist[u]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C2B46"/>
                </a:solidFill>
                <a:latin typeface="Aptos"/>
              </a:rPr>
              <a:t>    if no finite u exists: 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58768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C2B46"/>
                </a:solidFill>
                <a:latin typeface="Aptos"/>
              </a:rPr>
              <a:t>    visited[u] =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51376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009799"/>
                </a:solidFill>
                <a:latin typeface="Aptos"/>
              </a:rPr>
              <a:t>    for each neighbour v of u: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43983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C2B46"/>
                </a:solidFill>
                <a:latin typeface="Aptos"/>
              </a:rPr>
              <a:t>      candidate = dist[u] + weight(u, 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36592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009799"/>
                </a:solidFill>
                <a:latin typeface="Aptos"/>
              </a:rPr>
              <a:t>      if not visited[v] and candidate &lt; dist[v]: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C2B46"/>
                </a:solidFill>
                <a:latin typeface="Aptos"/>
              </a:rPr>
              <a:t>        dist[v] = candidate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21808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009799"/>
                </a:solidFill>
                <a:latin typeface="Aptos"/>
              </a:rPr>
              <a:t>        predecessor[v] = 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14416"/>
            <a:ext cx="6400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C2B46"/>
                </a:solidFill>
                <a:latin typeface="Aptos"/>
              </a:rPr>
              <a:t>  return dist, predecessor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645920"/>
            <a:ext cx="35204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27848" y="1801368"/>
            <a:ext cx="50292" cy="1563623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0728" y="1801368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009799"/>
                </a:solidFill>
                <a:latin typeface="Aptos"/>
              </a:rPr>
              <a:t>Key arrays</a:t>
            </a:r>
          </a:p>
        </p:txBody>
      </p:sp>
      <p:sp>
        <p:nvSpPr>
          <p:cNvPr id="25" name="Oval 24"/>
          <p:cNvSpPr/>
          <p:nvPr/>
        </p:nvSpPr>
        <p:spPr>
          <a:xfrm>
            <a:off x="8138160" y="2286000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48472" y="2203704"/>
            <a:ext cx="2916936" cy="4023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dist[]: best known costs</a:t>
            </a:r>
          </a:p>
        </p:txBody>
      </p:sp>
      <p:sp>
        <p:nvSpPr>
          <p:cNvPr id="27" name="Oval 26"/>
          <p:cNvSpPr/>
          <p:nvPr/>
        </p:nvSpPr>
        <p:spPr>
          <a:xfrm>
            <a:off x="8138160" y="2697480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2615184"/>
            <a:ext cx="2916936" cy="4023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visited[]: finalised vertices</a:t>
            </a:r>
          </a:p>
        </p:txBody>
      </p:sp>
      <p:sp>
        <p:nvSpPr>
          <p:cNvPr id="29" name="Oval 28"/>
          <p:cNvSpPr/>
          <p:nvPr/>
        </p:nvSpPr>
        <p:spPr>
          <a:xfrm>
            <a:off x="8138160" y="3108960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72" y="3026664"/>
            <a:ext cx="2916936" cy="4023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predecessor[]: rebuild routes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3794760"/>
            <a:ext cx="35204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27848" y="3950208"/>
            <a:ext cx="50292" cy="1517904"/>
          </a:xfrm>
          <a:prstGeom prst="rect">
            <a:avLst/>
          </a:prstGeom>
          <a:solidFill>
            <a:srgbClr val="F4705E"/>
          </a:solidFill>
          <a:ln w="10160">
            <a:solidFill>
              <a:srgbClr val="F47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10728" y="3950208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4705E"/>
                </a:solidFill>
                <a:latin typeface="Aptos"/>
              </a:rPr>
              <a:t>Stopping condition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4370832"/>
            <a:ext cx="3127248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1C2B46"/>
                </a:solidFill>
                <a:latin typeface="Aptos"/>
              </a:rPr>
              <a:t>If the smallest remaining distance is ∞, the remaining vertices are unreachable.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Why it works—and when it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The non-negative edge-weight condition is essential to Dijkstra’s correctness.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847088"/>
            <a:ext cx="50292" cy="3118104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47548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009799"/>
                </a:solidFill>
                <a:latin typeface="Aptos"/>
              </a:rPr>
              <a:t>Correctness intuition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331720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249424"/>
            <a:ext cx="4517136" cy="9204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Choose the unvisited vertex u with the smallest tentative distance.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261360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179064"/>
            <a:ext cx="4517136" cy="9204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With non-negative weights, a route through another unvisited vertex cannot produce a cheaper path to u.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190999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108704"/>
            <a:ext cx="4517136" cy="9204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Therefore, dist[u] is final when selected.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12064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6207" y="1847088"/>
            <a:ext cx="50292" cy="3118104"/>
          </a:xfrm>
          <a:prstGeom prst="rect">
            <a:avLst/>
          </a:prstGeom>
          <a:solidFill>
            <a:srgbClr val="F4705E"/>
          </a:solidFill>
          <a:ln w="10160">
            <a:solidFill>
              <a:srgbClr val="F47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1847088"/>
            <a:ext cx="47548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4705E"/>
                </a:solidFill>
                <a:latin typeface="Aptos"/>
              </a:rPr>
              <a:t>Limitation: negative weights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2331720"/>
            <a:ext cx="100584" cy="100584"/>
          </a:xfrm>
          <a:prstGeom prst="ellipse">
            <a:avLst/>
          </a:prstGeom>
          <a:solidFill>
            <a:srgbClr val="F4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56832" y="2249424"/>
            <a:ext cx="4517136" cy="9204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A negative edge can improve a route after a vertex has already been finalised.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3261360"/>
            <a:ext cx="100584" cy="100584"/>
          </a:xfrm>
          <a:prstGeom prst="ellipse">
            <a:avLst/>
          </a:prstGeom>
          <a:solidFill>
            <a:srgbClr val="F4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6832" y="3179064"/>
            <a:ext cx="4517136" cy="9204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This breaks the greedy assumption.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90999"/>
            <a:ext cx="100584" cy="100584"/>
          </a:xfrm>
          <a:prstGeom prst="ellipse">
            <a:avLst/>
          </a:prstGeom>
          <a:solidFill>
            <a:srgbClr val="F4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6832" y="4108704"/>
            <a:ext cx="4517136" cy="9204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Use Bellman–Ford if negative edges must be supported.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522976"/>
            <a:ext cx="9966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27417E"/>
                </a:solidFill>
                <a:latin typeface="Aptos"/>
              </a:rPr>
              <a:t>Dijkstra: non-negative weights  •  Bellman–Ford: supports negative edges (but not reachable negative cycles)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011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9799"/>
                </a:solidFill>
                <a:latin typeface="Aptos"/>
              </a:rPr>
              <a:t>DAA • CONTINUOUS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7548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1C2B46"/>
                </a:solidFill>
                <a:latin typeface="Aptos"/>
              </a:rPr>
              <a:t>Time and space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713232" cy="50292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Aptos"/>
              </a:rPr>
              <a:t>Running time depends on graph representation and minimum-distance selection.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892807"/>
            <a:ext cx="50292" cy="1472184"/>
          </a:xfrm>
          <a:prstGeom prst="rect">
            <a:avLst/>
          </a:prstGeom>
          <a:solidFill>
            <a:srgbClr val="3569DC"/>
          </a:solidFill>
          <a:ln w="10160">
            <a:solidFill>
              <a:srgbClr val="35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3569DC"/>
                </a:solidFill>
                <a:latin typeface="Aptos"/>
              </a:rPr>
              <a:t>Matrix + linear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13432"/>
            <a:ext cx="3035808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Time: O(V²)
Matrix storage: O(V²)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290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7" y="1892807"/>
            <a:ext cx="50292" cy="1472184"/>
          </a:xfrm>
          <a:prstGeom prst="rect">
            <a:avLst/>
          </a:prstGeom>
          <a:solidFill>
            <a:srgbClr val="009799"/>
          </a:solidFill>
          <a:ln w="10160">
            <a:solidFill>
              <a:srgbClr val="00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7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009799"/>
                </a:solidFill>
                <a:latin typeface="Aptos"/>
              </a:rPr>
              <a:t>Adjacency list + binary heap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13432"/>
            <a:ext cx="3035808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1C2B46"/>
                </a:solidFill>
                <a:latin typeface="Aptos"/>
              </a:rPr>
              <a:t>Time: O((V + E) log V)
Graph storage: O(V + 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4290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892807"/>
            <a:ext cx="50292" cy="1472184"/>
          </a:xfrm>
          <a:prstGeom prst="rect">
            <a:avLst/>
          </a:prstGeom>
          <a:solidFill>
            <a:srgbClr val="EBA829"/>
          </a:solidFill>
          <a:ln w="10160">
            <a:solidFill>
              <a:srgbClr val="EBA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063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EBA829"/>
                </a:solidFill>
                <a:latin typeface="Aptos"/>
              </a:rPr>
              <a:t>Symbols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313432"/>
            <a:ext cx="3035808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C2B46"/>
                </a:solidFill>
                <a:latin typeface="Aptos"/>
              </a:rPr>
              <a:t>V = number of vertices
E = number of edges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977639"/>
            <a:ext cx="103784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279392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09799"/>
                </a:solidFill>
                <a:latin typeface="Aptos"/>
              </a:rPr>
              <a:t>Which version should you 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206240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O(V²) is simple and can suit dense graphs. A binary heap is generally more efficient for sparse graphs.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532120"/>
            <a:ext cx="9601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Aptos"/>
              </a:rPr>
              <a:t>Auxiliary space includes distance, visited, predecessor, and priority-queue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5486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1C2B46"/>
                </a:solidFill>
                <a:latin typeface="Aptos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653796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" y="1682496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600200"/>
            <a:ext cx="5687568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Initialise source = 0 and all other distances = ∞.</a:t>
            </a:r>
          </a:p>
        </p:txBody>
      </p:sp>
      <p:sp>
        <p:nvSpPr>
          <p:cNvPr id="6" name="Oval 5"/>
          <p:cNvSpPr/>
          <p:nvPr/>
        </p:nvSpPr>
        <p:spPr>
          <a:xfrm>
            <a:off x="1024128" y="2286000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203704"/>
            <a:ext cx="5687568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Choose the closest unvisited vertex.</a:t>
            </a:r>
          </a:p>
        </p:txBody>
      </p:sp>
      <p:sp>
        <p:nvSpPr>
          <p:cNvPr id="8" name="Oval 7"/>
          <p:cNvSpPr/>
          <p:nvPr/>
        </p:nvSpPr>
        <p:spPr>
          <a:xfrm>
            <a:off x="1024128" y="2889503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807208"/>
            <a:ext cx="5687568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Relax its edges and record predecessors.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3493007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410711"/>
            <a:ext cx="5687568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Repeat to obtain shortest distances and routes.</a:t>
            </a:r>
          </a:p>
        </p:txBody>
      </p:sp>
      <p:sp>
        <p:nvSpPr>
          <p:cNvPr id="12" name="Oval 11"/>
          <p:cNvSpPr/>
          <p:nvPr/>
        </p:nvSpPr>
        <p:spPr>
          <a:xfrm>
            <a:off x="1024128" y="4096511"/>
            <a:ext cx="100584" cy="100584"/>
          </a:xfrm>
          <a:prstGeom prst="ellipse">
            <a:avLst/>
          </a:prstGeom>
          <a:solidFill>
            <a:srgbClr val="00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4014215"/>
            <a:ext cx="5687568" cy="5943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Aptos"/>
              </a:rPr>
              <a:t>Dijkstra requires non-negative edge weights.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80160"/>
            <a:ext cx="3703320" cy="2971800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1600200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3569DC"/>
                </a:solidFill>
                <a:latin typeface="Aptos"/>
              </a:rPr>
              <a:t>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57400"/>
            <a:ext cx="2971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1. E. W. Dijkstra, “A note on two problems in connexion with graphs,” Numerische Mathematik, 1959.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090672"/>
            <a:ext cx="29718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1C2B46"/>
                </a:solidFill>
                <a:latin typeface="Aptos"/>
              </a:rPr>
              <a:t>2. Cormen, Leiserson, Rivest &amp; Stein, Introduction to Algorithms, section on Dijkstra’s algorithm.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27432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>
                <a:solidFill>
                  <a:srgbClr val="009799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510528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5B6B85"/>
                </a:solidFill>
                <a:latin typeface="Apto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1286</Words>
  <Application>Microsoft Office PowerPoint</Application>
  <PresentationFormat>Widescreen</PresentationFormat>
  <Paragraphs>228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 Kashikar</cp:lastModifiedBy>
  <cp:revision>5</cp:revision>
  <dcterms:created xsi:type="dcterms:W3CDTF">2013-01-27T09:14:16Z</dcterms:created>
  <dcterms:modified xsi:type="dcterms:W3CDTF">2026-10-20T14:58:49Z</dcterms:modified>
  <cp:category/>
</cp:coreProperties>
</file>